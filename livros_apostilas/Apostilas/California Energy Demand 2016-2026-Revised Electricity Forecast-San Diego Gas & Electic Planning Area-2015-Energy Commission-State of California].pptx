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7"/>
  </p:notesMasterIdLst>
  <p:sldIdLst>
    <p:sldId id="278" r:id="rId2"/>
    <p:sldId id="279" r:id="rId3"/>
    <p:sldId id="267" r:id="rId4"/>
    <p:sldId id="291" r:id="rId5"/>
    <p:sldId id="282" r:id="rId6"/>
    <p:sldId id="289" r:id="rId7"/>
    <p:sldId id="290" r:id="rId8"/>
    <p:sldId id="292" r:id="rId9"/>
    <p:sldId id="296" r:id="rId10"/>
    <p:sldId id="285" r:id="rId11"/>
    <p:sldId id="297" r:id="rId12"/>
    <p:sldId id="299" r:id="rId13"/>
    <p:sldId id="298" r:id="rId14"/>
    <p:sldId id="300" r:id="rId15"/>
    <p:sldId id="301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tran" initials="n" lastIdx="1" clrIdx="0"/>
  <p:cmAuthor id="1" name="NB" initials="N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3300"/>
    <a:srgbClr val="0099FF"/>
    <a:srgbClr val="0000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0521" autoAdjust="0"/>
  </p:normalViewPr>
  <p:slideViewPr>
    <p:cSldViewPr>
      <p:cViewPr>
        <p:scale>
          <a:sx n="80" d="100"/>
          <a:sy n="80" d="100"/>
        </p:scale>
        <p:origin x="-90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26" Type="http://schemas.openxmlformats.org/officeDocument/2006/relationships/customXml" Target="../customXml/item4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A5E5D-2E30-4735-BEFF-28C9824D7118}" type="datetimeFigureOut">
              <a:rPr lang="en-US" smtClean="0"/>
              <a:pPr/>
              <a:t>12/14/2015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B7521-84D1-485F-8D47-01E039A28BD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967618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376612-6C2A-453C-9CA7-DD9F07694DA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FD19BA-28EC-4FB6-A292-5C47B1902E1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25754-A986-4EF7-978C-8E1C1ED0208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DC0BA2-85C5-4CBD-BC0C-5E625889F30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276765-46C1-4DF9-83D7-6EEB524917C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716B0-513C-4E75-88BD-08D73CD32E2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6613B0-01AD-4D24-AD8D-55118E034AA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D879D-007C-448A-9644-09D10AF37BC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A6591F-30F5-48A4-BB0D-35729A49C10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FEA39A-D914-4B13-B8FC-531110AF576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914400"/>
            <a:ext cx="1943100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914400"/>
            <a:ext cx="5676900" cy="5181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610B2F-CF4D-4557-8A90-C14EEB2FBB9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144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6D7C713-FEA3-4B87-A75A-0170804F599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457200" y="304800"/>
            <a:ext cx="8305800" cy="5943600"/>
          </a:xfrm>
          <a:prstGeom prst="rect">
            <a:avLst/>
          </a:prstGeom>
          <a:noFill/>
          <a:ln w="76200">
            <a:solidFill>
              <a:srgbClr val="00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>
              <a:defRPr/>
            </a:pPr>
            <a:endParaRPr lang="en-US" altLang="en-US" dirty="0" smtClean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57200" y="304800"/>
            <a:ext cx="8305800" cy="53340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 algn="ctr">
              <a:defRPr/>
            </a:pPr>
            <a:endParaRPr lang="en-US" altLang="en-US" dirty="0" smtClean="0"/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457200" y="381000"/>
            <a:ext cx="822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800" b="1" dirty="0" smtClean="0">
                <a:solidFill>
                  <a:schemeClr val="bg1"/>
                </a:solidFill>
                <a:latin typeface="Arial" charset="0"/>
              </a:rPr>
              <a:t>California Energy Commission</a:t>
            </a:r>
            <a:endParaRPr lang="en-US" altLang="en-US" dirty="0" smtClean="0"/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1219200" y="228600"/>
            <a:ext cx="762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</a:defRPr>
            </a:lvl9pPr>
          </a:lstStyle>
          <a:p>
            <a:pPr>
              <a:defRPr/>
            </a:pPr>
            <a:endParaRPr lang="en-US" altLang="en-US" dirty="0" smtClean="0"/>
          </a:p>
        </p:txBody>
      </p:sp>
      <p:pic>
        <p:nvPicPr>
          <p:cNvPr id="1036" name="Picture 1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04800" y="161925"/>
            <a:ext cx="914400" cy="8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2133599"/>
          </a:xfrm>
        </p:spPr>
        <p:txBody>
          <a:bodyPr/>
          <a:lstStyle/>
          <a:p>
            <a:r>
              <a:rPr lang="en-US" sz="3200" dirty="0" smtClean="0"/>
              <a:t>California Energy Demand 2016-2026 Revised Electricity Forecast: San Diego Gas &amp; Electric Planning Area</a:t>
            </a:r>
            <a:endParaRPr lang="en-US" sz="3200" dirty="0">
              <a:effectLst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371600" y="3200400"/>
            <a:ext cx="6781800" cy="2819400"/>
          </a:xfrm>
        </p:spPr>
        <p:txBody>
          <a:bodyPr/>
          <a:lstStyle/>
          <a:p>
            <a:endParaRPr lang="en-US" altLang="en-US" sz="2000" dirty="0" smtClean="0"/>
          </a:p>
          <a:p>
            <a:r>
              <a:rPr lang="en-US" altLang="en-US" sz="2000" dirty="0" smtClean="0"/>
              <a:t>December 17, 2015</a:t>
            </a:r>
          </a:p>
          <a:p>
            <a:endParaRPr lang="en-US" altLang="en-US" sz="1800" dirty="0" smtClean="0"/>
          </a:p>
          <a:p>
            <a:endParaRPr lang="en-US" altLang="en-US" sz="1800" dirty="0" smtClean="0"/>
          </a:p>
          <a:p>
            <a:r>
              <a:rPr lang="en-US" altLang="en-US" sz="2400" dirty="0" smtClean="0"/>
              <a:t>Cary Garcia</a:t>
            </a:r>
          </a:p>
          <a:p>
            <a:r>
              <a:rPr lang="en-US" altLang="en-US" sz="2400" dirty="0" smtClean="0"/>
              <a:t>Demand Analysis Office</a:t>
            </a:r>
          </a:p>
          <a:p>
            <a:r>
              <a:rPr lang="en-US" altLang="en-US" sz="2400" dirty="0" smtClean="0"/>
              <a:t>Cary.Garcia@energy.ca.gov</a:t>
            </a:r>
            <a:endParaRPr lang="en-US" alt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D19BA-28EC-4FB6-A292-5C47B1902E17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28099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209800"/>
            <a:ext cx="7772400" cy="3886200"/>
          </a:xfrm>
        </p:spPr>
        <p:txBody>
          <a:bodyPr/>
          <a:lstStyle/>
          <a:p>
            <a:r>
              <a:rPr lang="en-US" dirty="0" smtClean="0"/>
              <a:t>No change to planning area definition</a:t>
            </a:r>
          </a:p>
          <a:p>
            <a:r>
              <a:rPr lang="en-US" dirty="0" smtClean="0"/>
              <a:t>Drop in electricity consumption compared to </a:t>
            </a:r>
            <a:r>
              <a:rPr lang="en-US" i="1" dirty="0" smtClean="0"/>
              <a:t>CEDU 2014</a:t>
            </a:r>
            <a:r>
              <a:rPr lang="en-US" dirty="0" smtClean="0"/>
              <a:t> partially offset by more than proportionate growth in EVs</a:t>
            </a:r>
          </a:p>
          <a:p>
            <a:r>
              <a:rPr lang="en-US" dirty="0" smtClean="0"/>
              <a:t>Sales and peak down more significantly because of higher PV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D19BA-28EC-4FB6-A292-5C47B1902E17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14400"/>
            <a:ext cx="8153400" cy="1524000"/>
          </a:xfrm>
        </p:spPr>
        <p:txBody>
          <a:bodyPr/>
          <a:lstStyle/>
          <a:p>
            <a:r>
              <a:rPr lang="en-US" sz="3200" dirty="0" smtClean="0"/>
              <a:t>SDG&amp;E Baseline Electricity Consumption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00B050"/>
                </a:solidFill>
              </a:rPr>
              <a:t>New high demand case matches </a:t>
            </a:r>
            <a:r>
              <a:rPr lang="en-US" sz="2400" i="1" dirty="0" smtClean="0">
                <a:solidFill>
                  <a:srgbClr val="00B050"/>
                </a:solidFill>
              </a:rPr>
              <a:t>CEDU 2014</a:t>
            </a:r>
            <a:r>
              <a:rPr lang="en-US" sz="2400" dirty="0" smtClean="0">
                <a:solidFill>
                  <a:srgbClr val="00B050"/>
                </a:solidFill>
              </a:rPr>
              <a:t> mid case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D19BA-28EC-4FB6-A292-5C47B1902E17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0583" y="2514600"/>
            <a:ext cx="7762833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17686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7924800" cy="1524000"/>
          </a:xfrm>
        </p:spPr>
        <p:txBody>
          <a:bodyPr/>
          <a:lstStyle/>
          <a:p>
            <a:r>
              <a:rPr lang="en-US" dirty="0" smtClean="0"/>
              <a:t>SDG&amp;E Baseline Electricity Sales</a:t>
            </a:r>
            <a:br>
              <a:rPr lang="en-US" dirty="0" smtClean="0"/>
            </a:br>
            <a:r>
              <a:rPr lang="en-US" sz="2400" dirty="0" smtClean="0">
                <a:solidFill>
                  <a:srgbClr val="00B050"/>
                </a:solidFill>
              </a:rPr>
              <a:t>New mid case grows at 0.25% per year (2014-2025) compared to 1.03% for </a:t>
            </a:r>
            <a:r>
              <a:rPr lang="en-US" sz="2400" i="1" dirty="0" smtClean="0">
                <a:solidFill>
                  <a:srgbClr val="00B050"/>
                </a:solidFill>
              </a:rPr>
              <a:t>CEDU 2014 </a:t>
            </a:r>
            <a:r>
              <a:rPr lang="en-US" sz="2400" dirty="0" smtClean="0">
                <a:solidFill>
                  <a:srgbClr val="00B050"/>
                </a:solidFill>
              </a:rPr>
              <a:t>mid case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D19BA-28EC-4FB6-A292-5C47B1902E17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0583" y="2362200"/>
            <a:ext cx="7762833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17686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1143000"/>
          </a:xfrm>
        </p:spPr>
        <p:txBody>
          <a:bodyPr/>
          <a:lstStyle/>
          <a:p>
            <a:r>
              <a:rPr lang="en-US" sz="3200" dirty="0" smtClean="0"/>
              <a:t>SDG&amp;E Baseline Peak Demand</a:t>
            </a:r>
            <a:br>
              <a:rPr lang="en-US" sz="3200" dirty="0" smtClean="0"/>
            </a:br>
            <a:r>
              <a:rPr lang="en-US" sz="2400" dirty="0" smtClean="0">
                <a:solidFill>
                  <a:srgbClr val="00B050"/>
                </a:solidFill>
              </a:rPr>
              <a:t> Flat growth in new mid case; more than 500 MW below </a:t>
            </a:r>
            <a:r>
              <a:rPr lang="en-US" sz="2400" i="1" dirty="0" smtClean="0">
                <a:solidFill>
                  <a:srgbClr val="00B050"/>
                </a:solidFill>
              </a:rPr>
              <a:t>CEDU 2014 </a:t>
            </a:r>
            <a:r>
              <a:rPr lang="en-US" sz="2400" dirty="0" smtClean="0">
                <a:solidFill>
                  <a:srgbClr val="00B050"/>
                </a:solidFill>
              </a:rPr>
              <a:t>mid case by 2025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D19BA-28EC-4FB6-A292-5C47B1902E17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0583" y="2209800"/>
            <a:ext cx="7762833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1295400"/>
          </a:xfrm>
        </p:spPr>
        <p:txBody>
          <a:bodyPr/>
          <a:lstStyle/>
          <a:p>
            <a:r>
              <a:rPr lang="en-US" dirty="0" smtClean="0"/>
              <a:t>SDG&amp;E PV Energy </a:t>
            </a:r>
            <a:br>
              <a:rPr lang="en-US" dirty="0" smtClean="0"/>
            </a:br>
            <a:r>
              <a:rPr lang="en-US" sz="2400" dirty="0" smtClean="0">
                <a:solidFill>
                  <a:srgbClr val="00B050"/>
                </a:solidFill>
              </a:rPr>
              <a:t>Almost all of the increase comes from residential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D19BA-28EC-4FB6-A292-5C47B1902E17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0583" y="2133600"/>
            <a:ext cx="7762833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1295400"/>
          </a:xfrm>
        </p:spPr>
        <p:txBody>
          <a:bodyPr/>
          <a:lstStyle/>
          <a:p>
            <a:r>
              <a:rPr lang="en-US" dirty="0" smtClean="0"/>
              <a:t>SDG&amp;E PV Peak Impacts </a:t>
            </a:r>
            <a:br>
              <a:rPr lang="en-US" dirty="0" smtClean="0"/>
            </a:br>
            <a:r>
              <a:rPr lang="en-US" sz="2400" i="1" dirty="0" smtClean="0">
                <a:solidFill>
                  <a:srgbClr val="00B050"/>
                </a:solidFill>
              </a:rPr>
              <a:t>CED 2015 Revised</a:t>
            </a:r>
            <a:r>
              <a:rPr lang="en-US" sz="2400" dirty="0" smtClean="0">
                <a:solidFill>
                  <a:srgbClr val="00B050"/>
                </a:solidFill>
              </a:rPr>
              <a:t> mid case corresponds to around 1,300 MW capacity in 2026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D19BA-28EC-4FB6-A292-5C47B1902E17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0583" y="2362200"/>
            <a:ext cx="7762833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1295400"/>
          </a:xfrm>
        </p:spPr>
        <p:txBody>
          <a:bodyPr/>
          <a:lstStyle/>
          <a:p>
            <a:r>
              <a:rPr lang="en-US" dirty="0" smtClean="0"/>
              <a:t>SDG&amp;E Light-Duty EV Energy </a:t>
            </a:r>
            <a:br>
              <a:rPr lang="en-US" dirty="0" smtClean="0"/>
            </a:br>
            <a:r>
              <a:rPr lang="en-US" sz="2400" dirty="0" smtClean="0">
                <a:solidFill>
                  <a:srgbClr val="00B050"/>
                </a:solidFill>
              </a:rPr>
              <a:t> Corresponds to around 250,000 EVs in 2026 in the mid case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D19BA-28EC-4FB6-A292-5C47B1902E17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0583" y="2286000"/>
            <a:ext cx="7762833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1295400"/>
          </a:xfrm>
        </p:spPr>
        <p:txBody>
          <a:bodyPr/>
          <a:lstStyle/>
          <a:p>
            <a:r>
              <a:rPr lang="en-US" dirty="0" smtClean="0"/>
              <a:t>SDG&amp;E Committed Efficiency</a:t>
            </a:r>
            <a:br>
              <a:rPr lang="en-US" dirty="0" smtClean="0"/>
            </a:br>
            <a:r>
              <a:rPr lang="en-US" sz="2400" dirty="0" smtClean="0">
                <a:solidFill>
                  <a:srgbClr val="00B050"/>
                </a:solidFill>
              </a:rPr>
              <a:t> Around 4,000 </a:t>
            </a:r>
            <a:r>
              <a:rPr lang="en-US" sz="2400" dirty="0" err="1" smtClean="0">
                <a:solidFill>
                  <a:srgbClr val="00B050"/>
                </a:solidFill>
              </a:rPr>
              <a:t>GWh</a:t>
            </a:r>
            <a:r>
              <a:rPr lang="en-US" sz="2400" dirty="0" smtClean="0">
                <a:solidFill>
                  <a:srgbClr val="00B050"/>
                </a:solidFill>
              </a:rPr>
              <a:t> savings from codes and standards in 2014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D19BA-28EC-4FB6-A292-5C47B1902E17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0583" y="2362200"/>
            <a:ext cx="7762833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8001000" cy="1295400"/>
          </a:xfrm>
        </p:spPr>
        <p:txBody>
          <a:bodyPr/>
          <a:lstStyle/>
          <a:p>
            <a:r>
              <a:rPr lang="en-US" sz="3200" dirty="0" smtClean="0"/>
              <a:t>Efficiency Programs: EM&amp;V Adjustment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00B050"/>
                </a:solidFill>
              </a:rPr>
              <a:t>Net effect: -68 </a:t>
            </a:r>
            <a:r>
              <a:rPr lang="en-US" sz="2400" dirty="0" err="1" smtClean="0">
                <a:solidFill>
                  <a:srgbClr val="00B050"/>
                </a:solidFill>
              </a:rPr>
              <a:t>GWh</a:t>
            </a:r>
            <a:r>
              <a:rPr lang="en-US" sz="2400" dirty="0" smtClean="0">
                <a:solidFill>
                  <a:srgbClr val="00B050"/>
                </a:solidFill>
              </a:rPr>
              <a:t> in 2015, -2 </a:t>
            </a:r>
            <a:r>
              <a:rPr lang="en-US" sz="2400" dirty="0" err="1" smtClean="0">
                <a:solidFill>
                  <a:srgbClr val="00B050"/>
                </a:solidFill>
              </a:rPr>
              <a:t>GWh</a:t>
            </a:r>
            <a:r>
              <a:rPr lang="en-US" sz="2400" dirty="0" smtClean="0">
                <a:solidFill>
                  <a:srgbClr val="00B050"/>
                </a:solidFill>
              </a:rPr>
              <a:t> in 2026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D19BA-28EC-4FB6-A292-5C47B1902E17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0583" y="2133600"/>
            <a:ext cx="7762833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Impacts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Climate change</a:t>
            </a:r>
          </a:p>
          <a:p>
            <a:pPr lvl="1"/>
            <a:r>
              <a:rPr lang="en-US" dirty="0" smtClean="0"/>
              <a:t>70 </a:t>
            </a:r>
            <a:r>
              <a:rPr lang="en-US" dirty="0" err="1" smtClean="0"/>
              <a:t>GWh</a:t>
            </a:r>
            <a:r>
              <a:rPr lang="en-US" dirty="0" smtClean="0"/>
              <a:t> in 2026 in mid case, 45 </a:t>
            </a:r>
            <a:r>
              <a:rPr lang="en-US" dirty="0" err="1" smtClean="0"/>
              <a:t>GWh</a:t>
            </a:r>
            <a:r>
              <a:rPr lang="en-US" dirty="0" smtClean="0"/>
              <a:t> in high case</a:t>
            </a:r>
          </a:p>
          <a:p>
            <a:pPr lvl="1"/>
            <a:r>
              <a:rPr lang="en-US" dirty="0" smtClean="0"/>
              <a:t>20 MW in 2026 in mid case, 40 MW in high case</a:t>
            </a:r>
          </a:p>
          <a:p>
            <a:r>
              <a:rPr lang="en-US" dirty="0" smtClean="0"/>
              <a:t>Electrification: 40 </a:t>
            </a:r>
            <a:r>
              <a:rPr lang="en-US" dirty="0" err="1" smtClean="0"/>
              <a:t>GWh</a:t>
            </a:r>
            <a:r>
              <a:rPr lang="en-US" dirty="0" smtClean="0"/>
              <a:t> in 2026 in mid case, 80 </a:t>
            </a:r>
            <a:r>
              <a:rPr lang="en-US" dirty="0" err="1" smtClean="0"/>
              <a:t>GWh</a:t>
            </a:r>
            <a:r>
              <a:rPr lang="en-US" dirty="0" smtClean="0"/>
              <a:t> in high case</a:t>
            </a:r>
          </a:p>
          <a:p>
            <a:r>
              <a:rPr lang="en-US" dirty="0" smtClean="0"/>
              <a:t>60 MW of demand-side DR in 2026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D19BA-28EC-4FB6-A292-5C47B1902E17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1066800"/>
          </a:xfrm>
        </p:spPr>
        <p:txBody>
          <a:bodyPr/>
          <a:lstStyle/>
          <a:p>
            <a:r>
              <a:rPr lang="en-US" dirty="0" smtClean="0"/>
              <a:t>AAEE Savings: Peak MW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D19BA-28EC-4FB6-A292-5C47B1902E17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685800" y="2286000"/>
          <a:ext cx="77724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762000">
                <a:tc>
                  <a:txBody>
                    <a:bodyPr/>
                    <a:lstStyle/>
                    <a:p>
                      <a:r>
                        <a:rPr lang="en-US" dirty="0" smtClean="0"/>
                        <a:t>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High-Low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Mid-Low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Mid-Mid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Mid-High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High-Low</a:t>
                      </a:r>
                      <a:endParaRPr lang="en-US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2016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43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44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51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57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57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</a:tr>
              <a:tr h="762000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2020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164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168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216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242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247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</a:tr>
              <a:tr h="762000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2026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340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344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451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520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532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1066800"/>
          </a:xfrm>
        </p:spPr>
        <p:txBody>
          <a:bodyPr/>
          <a:lstStyle/>
          <a:p>
            <a:r>
              <a:rPr lang="en-US" dirty="0" smtClean="0"/>
              <a:t>AAEE Savings: </a:t>
            </a:r>
            <a:r>
              <a:rPr lang="en-US" dirty="0" err="1" smtClean="0"/>
              <a:t>GWh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D19BA-28EC-4FB6-A292-5C47B1902E17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685800" y="2286000"/>
          <a:ext cx="77724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762000">
                <a:tc>
                  <a:txBody>
                    <a:bodyPr/>
                    <a:lstStyle/>
                    <a:p>
                      <a:r>
                        <a:rPr lang="en-US" dirty="0" smtClean="0"/>
                        <a:t>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High-Low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Mid-Low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Mid-Mid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Mid-High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High-Low</a:t>
                      </a:r>
                      <a:endParaRPr lang="en-US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2016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193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192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208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245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251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</a:tr>
              <a:tr h="762000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2020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727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730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953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1,125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1,137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</a:tr>
              <a:tr h="762000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2026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1,412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1,413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1,903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2,220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2,228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14400"/>
            <a:ext cx="8229600" cy="1447800"/>
          </a:xfrm>
        </p:spPr>
        <p:txBody>
          <a:bodyPr/>
          <a:lstStyle/>
          <a:p>
            <a:r>
              <a:rPr lang="en-US" sz="3000" dirty="0" smtClean="0"/>
              <a:t>Impact of AAEE on </a:t>
            </a:r>
            <a:r>
              <a:rPr lang="en-US" sz="3000" dirty="0" smtClean="0"/>
              <a:t>SDG&amp;E Baseline Mid </a:t>
            </a:r>
            <a:r>
              <a:rPr lang="en-US" sz="3000" dirty="0" smtClean="0"/>
              <a:t>Case </a:t>
            </a:r>
            <a:r>
              <a:rPr lang="en-US" sz="3000" dirty="0" smtClean="0"/>
              <a:t>Sales, 3 AAEE cases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D19BA-28EC-4FB6-A292-5C47B1902E17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0583" y="2133600"/>
            <a:ext cx="7762833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14400"/>
            <a:ext cx="8229600" cy="1447800"/>
          </a:xfrm>
        </p:spPr>
        <p:txBody>
          <a:bodyPr/>
          <a:lstStyle/>
          <a:p>
            <a:r>
              <a:rPr lang="en-US" sz="3000" dirty="0" smtClean="0"/>
              <a:t>Impact of AAEE on </a:t>
            </a:r>
            <a:r>
              <a:rPr lang="en-US" sz="3000" dirty="0" smtClean="0"/>
              <a:t>SDG&amp;E Baseline Mid </a:t>
            </a:r>
            <a:r>
              <a:rPr lang="en-US" sz="3000" dirty="0" smtClean="0"/>
              <a:t>Case </a:t>
            </a:r>
            <a:r>
              <a:rPr lang="en-US" sz="3000" dirty="0" smtClean="0"/>
              <a:t>Peak, 3 AAEE cases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FD19BA-28EC-4FB6-A292-5C47B1902E17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0583" y="2057400"/>
            <a:ext cx="7762833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CCC58EB6DDD042AF64737FFB4292D8" ma:contentTypeVersion="11" ma:contentTypeDescription="Create a new document." ma:contentTypeScope="" ma:versionID="13f97a97acb76151d70d6bfa6f20dde2">
  <xsd:schema xmlns:xsd="http://www.w3.org/2001/XMLSchema" xmlns:xs="http://www.w3.org/2001/XMLSchema" xmlns:p="http://schemas.microsoft.com/office/2006/metadata/properties" xmlns:ns2="8eef3743-c7b3-4cbe-8837-b6e805be353c" targetNamespace="http://schemas.microsoft.com/office/2006/metadata/properties" ma:root="true" ma:fieldsID="9d326f15e9f28263b4a2e5035394f321" ns2:_="">
    <xsd:import namespace="8eef3743-c7b3-4cbe-8837-b6e805be353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Docket_x0020_Number" minOccurs="0"/>
                <xsd:element ref="ns2:k2a3b5fc29f742a38f72e68b777baa26" minOccurs="0"/>
                <xsd:element ref="ns2:TaxCatchAll" minOccurs="0"/>
                <xsd:element ref="ns2:Received_x0020_From" minOccurs="0"/>
                <xsd:element ref="ns2:bfc617c42d804116a0a5feb0906d720d" minOccurs="0"/>
                <xsd:element ref="ns2:jbf85ac70d5848c6836ba15e22d94e70" minOccurs="0"/>
                <xsd:element ref="ns2:ia56c5f4991045989a786b6ecb732719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ef3743-c7b3-4cbe-8837-b6e805be353c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Docket_x0020_Number" ma:index="11" nillable="true" ma:displayName="Docket Number" ma:internalName="Docket_x0020_Number">
      <xsd:simpleType>
        <xsd:restriction base="dms:Text">
          <xsd:maxLength value="32"/>
        </xsd:restriction>
      </xsd:simpleType>
    </xsd:element>
    <xsd:element name="k2a3b5fc29f742a38f72e68b777baa26" ma:index="13" nillable="true" ma:taxonomy="true" ma:internalName="k2a3b5fc29f742a38f72e68b777baa26" ma:taxonomyFieldName="Document_x0020_Type" ma:displayName="Document Type" ma:default="" ma:fieldId="{42a3b5fc-29f7-42a3-8f72-e68b777baa26}" ma:sspId="a3ae1311-9ec1-44ed-9b85-20ca267aa743" ma:termSetId="4920f4ef-3ff7-430b-a2e3-4066540b3b4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4" nillable="true" ma:displayName="Taxonomy Catch All Column" ma:hidden="true" ma:list="{234b91fd-55c5-49f0-95fc-2af2c5baedaf}" ma:internalName="TaxCatchAll" ma:showField="CatchAllData" ma:web="8eef3743-c7b3-4cbe-8837-b6e805be35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Received_x0020_From" ma:index="15" nillable="true" ma:displayName="Received From" ma:internalName="Received_x0020_From">
      <xsd:simpleType>
        <xsd:restriction base="dms:Text">
          <xsd:maxLength value="255"/>
        </xsd:restriction>
      </xsd:simpleType>
    </xsd:element>
    <xsd:element name="bfc617c42d804116a0a5feb0906d720d" ma:index="17" nillable="true" ma:taxonomy="true" ma:internalName="bfc617c42d804116a0a5feb0906d720d" ma:taxonomyFieldName="Subject_x0020_Areas" ma:displayName="Subject Areas" ma:default="" ma:fieldId="{bfc617c4-2d80-4116-a0a5-feb0906d720d}" ma:taxonomyMulti="true" ma:sspId="a3ae1311-9ec1-44ed-9b85-20ca267aa743" ma:termSetId="cd7814c8-04c0-4947-a362-3e9c7caefa4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bf85ac70d5848c6836ba15e22d94e70" ma:index="19" nillable="true" ma:taxonomy="true" ma:internalName="jbf85ac70d5848c6836ba15e22d94e70" ma:taxonomyFieldName="Submission_x0020_Type" ma:displayName="Submission Type" ma:default="" ma:fieldId="{3bf85ac7-0d58-48c6-836b-a15e22d94e70}" ma:sspId="a3ae1311-9ec1-44ed-9b85-20ca267aa743" ma:termSetId="81d50c0d-c30e-4c77-a756-69747127f68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a56c5f4991045989a786b6ecb732719" ma:index="21" nillable="true" ma:taxonomy="true" ma:internalName="ia56c5f4991045989a786b6ecb732719" ma:taxonomyFieldName="Submitter_x0020_Role" ma:displayName="Submitter Role" ma:default="" ma:fieldId="{2a56c5f4-9910-4598-9a78-6b6ecb732719}" ma:sspId="a3ae1311-9ec1-44ed-9b85-20ca267aa743" ma:termSetId="d4ace8ae-a4c4-4770-a8b9-bc6c67c601d9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ceived_x0020_From xmlns="8eef3743-c7b3-4cbe-8837-b6e805be353c">California Energy Commission</Received_x0020_From>
    <Docket_x0020_Number xmlns="8eef3743-c7b3-4cbe-8837-b6e805be353c">15-IEPR-03</Docket_x0020_Number>
    <TaxCatchAll xmlns="8eef3743-c7b3-4cbe-8837-b6e805be353c">
      <Value>8</Value>
      <Value>6</Value>
      <Value>91</Value>
      <Value>61</Value>
      <Value>3</Value>
    </TaxCatchAll>
    <jbf85ac70d5848c6836ba15e22d94e70 xmlns="8eef3743-c7b3-4cbe-8837-b6e805be353c">
      <Terms xmlns="http://schemas.microsoft.com/office/infopath/2007/PartnerControls">
        <TermInfo xmlns="http://schemas.microsoft.com/office/infopath/2007/PartnerControls">
          <TermName xmlns="http://schemas.microsoft.com/office/infopath/2007/PartnerControls">Document</TermName>
          <TermId xmlns="http://schemas.microsoft.com/office/infopath/2007/PartnerControls">6786e4f6-aafd-416d-a977-1b2d5f456edf</TermId>
        </TermInfo>
      </Terms>
    </jbf85ac70d5848c6836ba15e22d94e70>
    <ia56c5f4991045989a786b6ecb732719 xmlns="8eef3743-c7b3-4cbe-8837-b6e805be353c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Commission Staff</TermName>
          <TermId xmlns="http://schemas.microsoft.com/office/infopath/2007/PartnerControls">33d9c16f-f938-4210-84d3-7f3ed959b9d5</TermId>
        </TermInfo>
      </Terms>
    </ia56c5f4991045989a786b6ecb732719>
    <bfc617c42d804116a0a5feb0906d720d xmlns="8eef3743-c7b3-4cbe-8837-b6e805be353c">
      <Terms xmlns="http://schemas.microsoft.com/office/infopath/2007/PartnerControls">
        <TermInfo xmlns="http://schemas.microsoft.com/office/infopath/2007/PartnerControls">
          <TermName xmlns="http://schemas.microsoft.com/office/infopath/2007/PartnerControls">IEPR 2015-12-17 Workshop</TermName>
          <TermId xmlns="http://schemas.microsoft.com/office/infopath/2007/PartnerControls">f86ab955-1f1d-4153-9a80-462cb023a7f0</TermId>
        </TermInfo>
        <TermInfo xmlns="http://schemas.microsoft.com/office/infopath/2007/PartnerControls">
          <TermName xmlns="http://schemas.microsoft.com/office/infopath/2007/PartnerControls">IEPR Presentation</TermName>
          <TermId xmlns="http://schemas.microsoft.com/office/infopath/2007/PartnerControls">51277923-a549-4352-9cc5-bcce892adf24</TermId>
        </TermInfo>
      </Terms>
    </bfc617c42d804116a0a5feb0906d720d>
    <k2a3b5fc29f742a38f72e68b777baa26 xmlns="8eef3743-c7b3-4cbe-8837-b6e805be353c">
      <Terms xmlns="http://schemas.microsoft.com/office/infopath/2007/PartnerControls">
        <TermInfo xmlns="http://schemas.microsoft.com/office/infopath/2007/PartnerControls">
          <TermName xmlns="http://schemas.microsoft.com/office/infopath/2007/PartnerControls">Document</TermName>
          <TermId xmlns="http://schemas.microsoft.com/office/infopath/2007/PartnerControls">f3c81208-9d0f-49cc-afc5-e227f36ec0e7</TermId>
        </TermInfo>
      </Terms>
    </k2a3b5fc29f742a38f72e68b777baa26>
    <_dlc_DocId xmlns="8eef3743-c7b3-4cbe-8837-b6e805be353c">Z5JXHV6S7NA6-3-74905</_dlc_DocId>
    <_dlc_DocIdUrl xmlns="8eef3743-c7b3-4cbe-8837-b6e805be353c">
      <Url>http://efilingspinternal/_layouts/DocIdRedir.aspx?ID=Z5JXHV6S7NA6-3-74905</Url>
      <Description>Z5JXHV6S7NA6-3-74905</Description>
    </_dlc_DocIdUrl>
  </documentManagement>
</p:properties>
</file>

<file path=customXml/itemProps1.xml><?xml version="1.0" encoding="utf-8"?>
<ds:datastoreItem xmlns:ds="http://schemas.openxmlformats.org/officeDocument/2006/customXml" ds:itemID="{4B62B946-2A84-4152-805B-36AAA64E900F}"/>
</file>

<file path=customXml/itemProps2.xml><?xml version="1.0" encoding="utf-8"?>
<ds:datastoreItem xmlns:ds="http://schemas.openxmlformats.org/officeDocument/2006/customXml" ds:itemID="{284E7484-B1A6-43E0-BDBA-DE935CDB362D}"/>
</file>

<file path=customXml/itemProps3.xml><?xml version="1.0" encoding="utf-8"?>
<ds:datastoreItem xmlns:ds="http://schemas.openxmlformats.org/officeDocument/2006/customXml" ds:itemID="{59BF079F-D7F1-4121-B668-A04E4AA39886}"/>
</file>

<file path=customXml/itemProps4.xml><?xml version="1.0" encoding="utf-8"?>
<ds:datastoreItem xmlns:ds="http://schemas.openxmlformats.org/officeDocument/2006/customXml" ds:itemID="{81C2BDBD-A979-4264-8CBD-398D4196ABA9}"/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3362</TotalTime>
  <Words>241</Words>
  <Application>Microsoft Office PowerPoint</Application>
  <PresentationFormat>On-screen Show (4:3)</PresentationFormat>
  <Paragraphs>99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California Energy Demand 2016-2026 Revised Electricity Forecast: San Diego Gas &amp; Electric Planning Area</vt:lpstr>
      <vt:lpstr>Forecast Summary</vt:lpstr>
      <vt:lpstr>SDG&amp;E Baseline Electricity Consumption New high demand case matches CEDU 2014 mid case</vt:lpstr>
      <vt:lpstr>SDG&amp;E Baseline Electricity Sales New mid case grows at 0.25% per year (2014-2025) compared to 1.03% for CEDU 2014 mid case</vt:lpstr>
      <vt:lpstr>SDG&amp;E Baseline Peak Demand  Flat growth in new mid case; more than 500 MW below CEDU 2014 mid case by 2025</vt:lpstr>
      <vt:lpstr>SDG&amp;E PV Energy  Almost all of the increase comes from residential</vt:lpstr>
      <vt:lpstr>SDG&amp;E PV Peak Impacts  CED 2015 Revised mid case corresponds to around 1,300 MW capacity in 2026</vt:lpstr>
      <vt:lpstr>SDG&amp;E Light-Duty EV Energy   Corresponds to around 250,000 EVs in 2026 in the mid case</vt:lpstr>
      <vt:lpstr>SDG&amp;E Committed Efficiency  Around 4,000 GWh savings from codes and standards in 2014</vt:lpstr>
      <vt:lpstr>Efficiency Programs: EM&amp;V Adjustment Net effect: -68 GWh in 2015, -2 GWh in 2026 </vt:lpstr>
      <vt:lpstr>Additional Impacts</vt:lpstr>
      <vt:lpstr>AAEE Savings: Peak MW</vt:lpstr>
      <vt:lpstr>AAEE Savings: GWh</vt:lpstr>
      <vt:lpstr>Impact of AAEE on SDG&amp;E Baseline Mid Case Sales, 3 AAEE cases </vt:lpstr>
      <vt:lpstr>Impact of AAEE on SDG&amp;E Baseline Mid Case Peak, 3 AAEE cases </vt:lpstr>
    </vt:vector>
  </TitlesOfParts>
  <Company>CA Energy Commission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California Energy Demand 2016-2026 Revised Electricity Forecast: by Cary Garcia of CEC</dc:title>
  <dc:creator>State of California</dc:creator>
  <cp:lastModifiedBy>ckavalec</cp:lastModifiedBy>
  <cp:revision>302</cp:revision>
  <cp:lastPrinted>2003-05-22T21:33:00Z</cp:lastPrinted>
  <dcterms:created xsi:type="dcterms:W3CDTF">2003-05-22T16:57:46Z</dcterms:created>
  <dcterms:modified xsi:type="dcterms:W3CDTF">2015-12-14T10:14:40Z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0x01010060CCC58EB6DDD042AF64737FFB4292D8</vt:lpwstr>
  </property>
  <property fmtid="{D5CDD505-2E9C-101B-9397-08002B2CF9AE}" pid="3" name="_dlc_DocIdItemGuid">
    <vt:lpwstr>a69bfd55-243e-4c27-8990-15aaf100822b</vt:lpwstr>
  </property>
  <property fmtid="{D5CDD505-2E9C-101B-9397-08002B2CF9AE}" pid="4" name="Subject_x0020_Areas">
    <vt:lpwstr>91;#IEPR 2015-12-17 Workshop|f86ab955-1f1d-4153-9a80-462cb023a7f0;#61;#IEPR Presentation|51277923-a549-4352-9cc5-bcce892adf24</vt:lpwstr>
  </property>
  <property fmtid="{D5CDD505-2E9C-101B-9397-08002B2CF9AE}" pid="5" name="_CopySource">
    <vt:lpwstr>http://efilingspinternal/PendingDocuments/15-IEPR-03/20151216T080244_California_Energy_Demand_20162016_Revised_Electricity_Forecast.pptx</vt:lpwstr>
  </property>
  <property fmtid="{D5CDD505-2E9C-101B-9397-08002B2CF9AE}" pid="6" name="Subject Areas">
    <vt:lpwstr>91;#IEPR 2015-12-17 Workshop|f86ab955-1f1d-4153-9a80-462cb023a7f0;#61;#IEPR Presentation|51277923-a549-4352-9cc5-bcce892adf24</vt:lpwstr>
  </property>
  <property fmtid="{D5CDD505-2E9C-101B-9397-08002B2CF9AE}" pid="7" name="Submission Type">
    <vt:lpwstr>6;#Document|6786e4f6-aafd-416d-a977-1b2d5f456edf</vt:lpwstr>
  </property>
  <property fmtid="{D5CDD505-2E9C-101B-9397-08002B2CF9AE}" pid="8" name="Submitter Role">
    <vt:lpwstr>8;#Commission Staff|33d9c16f-f938-4210-84d3-7f3ed959b9d5</vt:lpwstr>
  </property>
  <property fmtid="{D5CDD505-2E9C-101B-9397-08002B2CF9AE}" pid="9" name="Order">
    <vt:r8>824200</vt:r8>
  </property>
  <property fmtid="{D5CDD505-2E9C-101B-9397-08002B2CF9AE}" pid="10" name="Document Type">
    <vt:lpwstr>3;#Document|f3c81208-9d0f-49cc-afc5-e227f36ec0e7</vt:lpwstr>
  </property>
  <property fmtid="{D5CDD505-2E9C-101B-9397-08002B2CF9AE}" pid="11" name="xd_ProgID">
    <vt:lpwstr/>
  </property>
  <property fmtid="{D5CDD505-2E9C-101B-9397-08002B2CF9AE}" pid="12" name="_SourceUrl">
    <vt:lpwstr/>
  </property>
  <property fmtid="{D5CDD505-2E9C-101B-9397-08002B2CF9AE}" pid="13" name="_SharedFileIndex">
    <vt:lpwstr/>
  </property>
  <property fmtid="{D5CDD505-2E9C-101B-9397-08002B2CF9AE}" pid="14" name="TemplateUrl">
    <vt:lpwstr/>
  </property>
</Properties>
</file>